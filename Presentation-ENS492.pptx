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2" r:id="rId9"/>
    <p:sldId id="264" r:id="rId10"/>
    <p:sldId id="265" r:id="rId11"/>
    <p:sldId id="269" r:id="rId12"/>
    <p:sldId id="266" r:id="rId13"/>
    <p:sldId id="267" r:id="rId14"/>
    <p:sldId id="268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60"/>
    <p:restoredTop sz="94656"/>
  </p:normalViewPr>
  <p:slideViewPr>
    <p:cSldViewPr snapToGrid="0" snapToObjects="1">
      <p:cViewPr>
        <p:scale>
          <a:sx n="102" d="100"/>
          <a:sy n="102" d="100"/>
        </p:scale>
        <p:origin x="85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14BA-CF6A-854C-A6EB-7D01EC9F68B9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5AB22BC-46F3-294E-B066-FA84D51EC337}" type="slidenum">
              <a:rPr lang="tr-TR" smtClean="0"/>
              <a:t>‹#›</a:t>
            </a:fld>
            <a:endParaRPr lang="tr-T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1723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14BA-CF6A-854C-A6EB-7D01EC9F68B9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22BC-46F3-294E-B066-FA84D51EC337}" type="slidenum">
              <a:rPr lang="tr-TR" smtClean="0"/>
              <a:t>‹#›</a:t>
            </a:fld>
            <a:endParaRPr lang="tr-TR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5612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14BA-CF6A-854C-A6EB-7D01EC9F68B9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22BC-46F3-294E-B066-FA84D51EC337}" type="slidenum">
              <a:rPr lang="tr-TR" smtClean="0"/>
              <a:t>‹#›</a:t>
            </a:fld>
            <a:endParaRPr lang="tr-T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656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14BA-CF6A-854C-A6EB-7D01EC9F68B9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22BC-46F3-294E-B066-FA84D51EC337}" type="slidenum">
              <a:rPr lang="tr-TR" smtClean="0"/>
              <a:t>‹#›</a:t>
            </a:fld>
            <a:endParaRPr lang="tr-TR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62520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14BA-CF6A-854C-A6EB-7D01EC9F68B9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22BC-46F3-294E-B066-FA84D51EC337}" type="slidenum">
              <a:rPr lang="tr-TR" smtClean="0"/>
              <a:t>‹#›</a:t>
            </a:fld>
            <a:endParaRPr lang="tr-TR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053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14BA-CF6A-854C-A6EB-7D01EC9F68B9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22BC-46F3-294E-B066-FA84D51EC337}" type="slidenum">
              <a:rPr lang="tr-TR" smtClean="0"/>
              <a:t>‹#›</a:t>
            </a:fld>
            <a:endParaRPr lang="tr-TR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5013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14BA-CF6A-854C-A6EB-7D01EC9F68B9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22BC-46F3-294E-B066-FA84D51EC33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3458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14BA-CF6A-854C-A6EB-7D01EC9F68B9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22BC-46F3-294E-B066-FA84D51EC337}" type="slidenum">
              <a:rPr lang="tr-TR" smtClean="0"/>
              <a:t>‹#›</a:t>
            </a:fld>
            <a:endParaRPr lang="tr-TR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157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8B3E14BA-CF6A-854C-A6EB-7D01EC9F68B9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22BC-46F3-294E-B066-FA84D51EC337}" type="slidenum">
              <a:rPr lang="tr-TR" smtClean="0"/>
              <a:t>‹#›</a:t>
            </a:fld>
            <a:endParaRPr lang="tr-TR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857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14BA-CF6A-854C-A6EB-7D01EC9F68B9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22BC-46F3-294E-B066-FA84D51EC337}" type="slidenum">
              <a:rPr lang="tr-TR" smtClean="0"/>
              <a:t>‹#›</a:t>
            </a:fld>
            <a:endParaRPr lang="tr-TR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439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14BA-CF6A-854C-A6EB-7D01EC9F68B9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AB22BC-46F3-294E-B066-FA84D51EC337}" type="slidenum">
              <a:rPr lang="tr-TR" smtClean="0"/>
              <a:t>‹#›</a:t>
            </a:fld>
            <a:endParaRPr lang="tr-TR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178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E14BA-CF6A-854C-A6EB-7D01EC9F68B9}" type="datetimeFigureOut">
              <a:rPr lang="tr-TR" smtClean="0"/>
              <a:t>5.01.2026</a:t>
            </a:fld>
            <a:endParaRPr lang="tr-T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5AB22BC-46F3-294E-B066-FA84D51EC337}" type="slidenum">
              <a:rPr lang="tr-TR" smtClean="0"/>
              <a:t>‹#›</a:t>
            </a:fld>
            <a:endParaRPr lang="tr-TR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8684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7DBB28E-4B9B-7E4F-AFE2-FC8824E826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/>
              <a:t>ENS-492 </a:t>
            </a:r>
            <a:r>
              <a:rPr lang="tr-TR" dirty="0" err="1"/>
              <a:t>PresentatIon</a:t>
            </a:r>
            <a:endParaRPr lang="tr-TR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B2B9E0D-AF35-D74A-80E5-36B2326CBE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01051"/>
          </a:xfrm>
        </p:spPr>
        <p:txBody>
          <a:bodyPr>
            <a:normAutofit fontScale="85000" lnSpcReduction="20000"/>
          </a:bodyPr>
          <a:lstStyle/>
          <a:p>
            <a:r>
              <a:rPr lang="tr-TR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</a:t>
            </a:r>
            <a:r>
              <a:rPr lang="tr-TR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Agents</a:t>
            </a:r>
            <a:r>
              <a:rPr lang="tr-TR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Informatıon</a:t>
            </a:r>
            <a:r>
              <a:rPr lang="tr-TR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ExtractIon</a:t>
            </a:r>
            <a:r>
              <a:rPr lang="tr-TR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i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ın</a:t>
            </a:r>
            <a:r>
              <a:rPr lang="tr-TR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Healthcare</a:t>
            </a:r>
          </a:p>
          <a:p>
            <a:endParaRPr lang="tr-TR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Ahmed</a:t>
            </a:r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Berka</a:t>
            </a:r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Ayhün</a:t>
            </a:r>
            <a:endParaRPr lang="tr-TR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Tuana</a:t>
            </a:r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Birkan</a:t>
            </a:r>
          </a:p>
          <a:p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Damla Salman</a:t>
            </a:r>
          </a:p>
          <a:p>
            <a:endParaRPr lang="tr-TR" sz="1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  <a:r>
              <a:rPr lang="tr-T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Yücel Saygın</a:t>
            </a:r>
          </a:p>
        </p:txBody>
      </p:sp>
    </p:spTree>
    <p:extLst>
      <p:ext uri="{BB962C8B-B14F-4D97-AF65-F5344CB8AC3E}">
        <p14:creationId xmlns:p14="http://schemas.microsoft.com/office/powerpoint/2010/main" val="1613203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F84B296-7D87-0F4E-A40B-AA3B31FBC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</a:t>
            </a:r>
            <a:r>
              <a:rPr lang="tr-TR" dirty="0"/>
              <a:t>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0F7911F-7D32-F643-8DBE-AAB809CF2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institutions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reliable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regulatory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compliance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operational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efficiency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designed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LLM-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knowledge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/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Large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/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(Neo4j)</a:t>
            </a:r>
          </a:p>
          <a:p>
            <a:pPr lvl="1"/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Generation</a:t>
            </a:r>
            <a:r>
              <a:rPr lang="tr-TR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(RAG)</a:t>
            </a:r>
          </a:p>
          <a:p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supports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both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Unstructured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data: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regulatory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data: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database-like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sources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e.g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., SQL/Excel </a:t>
            </a:r>
            <a:r>
              <a:rPr lang="tr-T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tables</a:t>
            </a:r>
            <a:r>
              <a:rPr lang="tr-T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tr-T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247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A89E283-0288-F842-AA5B-FB126CFD1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pROBLEM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4AFE158-8EE7-A842-9239-CBEB7F956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SUT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long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exception-heavy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headings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repeat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confusion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slow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error-prone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verifiable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traceable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503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3A93103-17C1-C341-9E90-AFD0B87D9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Goal</a:t>
            </a:r>
            <a:r>
              <a:rPr lang="tr-TR" dirty="0"/>
              <a:t>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1153043-5DFF-5A49-A306-7CB213FAFC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tr-T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Regulations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Knowledge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Regulatory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transformed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buFont typeface="+mj-lt"/>
              <a:buAutoNum type="arabicPeriod" startAt="2"/>
            </a:pPr>
            <a:r>
              <a:rPr lang="tr-T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</a:t>
            </a:r>
            <a:r>
              <a:rPr lang="tr-T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</a:t>
            </a:r>
            <a:r>
              <a:rPr lang="tr-T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Question</a:t>
            </a:r>
            <a:r>
              <a:rPr lang="tr-T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Answering</a:t>
            </a:r>
            <a:endParaRPr lang="tr-T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professionals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ask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questions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QA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retrieves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relevant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grounded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answers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 startAt="3"/>
            </a:pPr>
            <a:r>
              <a:rPr lang="tr-T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Dynamic</a:t>
            </a:r>
            <a:r>
              <a:rPr lang="tr-T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Updates</a:t>
            </a:r>
            <a:endParaRPr lang="tr-TR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Mechanisms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handle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regulation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changes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rebuilding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everything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scratch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controlled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rebuild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update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43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2CD84E3-F63B-1247-B69B-837D8CA98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(Neo4j)</a:t>
            </a:r>
          </a:p>
          <a:p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Relationship-aware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Multi-hop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contextual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reasoning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Better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provenance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traceability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grounded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answers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tr-TR" dirty="0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CDEA97C-C0CB-FB4A-8910-56314F54E83A}"/>
              </a:ext>
            </a:extLst>
          </p:cNvPr>
          <p:cNvSpPr txBox="1"/>
          <p:nvPr/>
        </p:nvSpPr>
        <p:spPr>
          <a:xfrm>
            <a:off x="1344701" y="1099267"/>
            <a:ext cx="82743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3200" dirty="0" err="1">
                <a:latin typeface="+mj-lt"/>
              </a:rPr>
              <a:t>GraphRAG</a:t>
            </a:r>
            <a:endParaRPr lang="tr-TR" sz="32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28377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" name="Metin kutusu 5">
            <a:extLst>
              <a:ext uri="{FF2B5EF4-FFF2-40B4-BE49-F238E27FC236}">
                <a16:creationId xmlns:a16="http://schemas.microsoft.com/office/drawing/2014/main" id="{45E68B02-FB87-6249-965A-80C33AB7B930}"/>
              </a:ext>
            </a:extLst>
          </p:cNvPr>
          <p:cNvSpPr txBox="1"/>
          <p:nvPr/>
        </p:nvSpPr>
        <p:spPr>
          <a:xfrm>
            <a:off x="1451580" y="804520"/>
            <a:ext cx="4176511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>
                <a:latin typeface="+mj-lt"/>
                <a:ea typeface="+mj-ea"/>
                <a:cs typeface="+mj-cs"/>
              </a:rPr>
              <a:t>Knowledge Graph Build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2F2193-FDE9-734A-995D-8F9A9C8BC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Knowledge Graph Prompt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 labels, relation types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Rules</a:t>
            </a:r>
          </a:p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JSON-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Resim 6" descr="metin, ekran görüntüsü, menü, yazı tipi içeren bir resim&#10;&#10;Açıklama otomatik olarak oluşturuldu">
            <a:extLst>
              <a:ext uri="{FF2B5EF4-FFF2-40B4-BE49-F238E27FC236}">
                <a16:creationId xmlns:a16="http://schemas.microsoft.com/office/drawing/2014/main" id="{F812E920-F29A-C84F-9A02-11097703D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9" y="662143"/>
            <a:ext cx="4960442" cy="3410303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Resim 7">
            <a:extLst>
              <a:ext uri="{FF2B5EF4-FFF2-40B4-BE49-F238E27FC236}">
                <a16:creationId xmlns:a16="http://schemas.microsoft.com/office/drawing/2014/main" id="{6206271E-0947-2D4F-975B-E3CAC375F3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6219" y="4759487"/>
            <a:ext cx="9474200" cy="77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4921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BBBE35E-171D-D04A-BAFC-AF05A92BF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432384" cy="3450613"/>
          </a:xfrm>
        </p:spPr>
        <p:txBody>
          <a:bodyPr>
            <a:noAutofit/>
          </a:bodyPr>
          <a:lstStyle/>
          <a:p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Control </a:t>
            </a:r>
          </a:p>
          <a:p>
            <a:pPr lvl="1"/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BUILD_KG = True →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KG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Neo4j</a:t>
            </a:r>
          </a:p>
          <a:p>
            <a:pPr lvl="1"/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BUILD_KG =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existing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iteration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Index (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Semantic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10000"/>
              </a:lnSpc>
            </a:pP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Creates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Chunk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using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Neo4j</a:t>
            </a:r>
          </a:p>
          <a:p>
            <a:pPr lvl="1">
              <a:lnSpc>
                <a:spcPct val="110000"/>
              </a:lnSpc>
            </a:pP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Enables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top-k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similarity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cosine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relevant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chunks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10000"/>
              </a:lnSpc>
            </a:pP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Provides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entry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retrieval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Cypher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1">
              <a:lnSpc>
                <a:spcPct val="110000"/>
              </a:lnSpc>
            </a:pP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Avoids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full-scan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faster</a:t>
            </a:r>
            <a:r>
              <a:rPr lang="tr-T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queries</a:t>
            </a:r>
            <a:endParaRPr lang="tr-T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Resim 5" descr="metin, ekran görüntüsü, yazı tipi içeren bir resim&#10;&#10;Açıklama otomatik olarak oluşturuldu">
            <a:extLst>
              <a:ext uri="{FF2B5EF4-FFF2-40B4-BE49-F238E27FC236}">
                <a16:creationId xmlns:a16="http://schemas.microsoft.com/office/drawing/2014/main" id="{F7796E08-D4AC-9643-9F2C-98D045AED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2050868"/>
            <a:ext cx="4960442" cy="217019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Metin kutusu 8">
            <a:extLst>
              <a:ext uri="{FF2B5EF4-FFF2-40B4-BE49-F238E27FC236}">
                <a16:creationId xmlns:a16="http://schemas.microsoft.com/office/drawing/2014/main" id="{AA3A5DB1-9EED-4C4F-BB8E-0A07A153AEAD}"/>
              </a:ext>
            </a:extLst>
          </p:cNvPr>
          <p:cNvSpPr txBox="1"/>
          <p:nvPr/>
        </p:nvSpPr>
        <p:spPr>
          <a:xfrm>
            <a:off x="1451580" y="804520"/>
            <a:ext cx="4176511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>
                <a:latin typeface="+mj-lt"/>
                <a:ea typeface="+mj-ea"/>
                <a:cs typeface="+mj-cs"/>
              </a:rPr>
              <a:t>Knowledge Graph Build </a:t>
            </a:r>
          </a:p>
        </p:txBody>
      </p:sp>
    </p:spTree>
    <p:extLst>
      <p:ext uri="{BB962C8B-B14F-4D97-AF65-F5344CB8AC3E}">
        <p14:creationId xmlns:p14="http://schemas.microsoft.com/office/powerpoint/2010/main" val="3043447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" name="Metin kutusu 4">
            <a:extLst>
              <a:ext uri="{FF2B5EF4-FFF2-40B4-BE49-F238E27FC236}">
                <a16:creationId xmlns:a16="http://schemas.microsoft.com/office/drawing/2014/main" id="{54E51E0F-3184-1C45-BDB1-227D2657DDF0}"/>
              </a:ext>
            </a:extLst>
          </p:cNvPr>
          <p:cNvSpPr txBox="1"/>
          <p:nvPr/>
        </p:nvSpPr>
        <p:spPr>
          <a:xfrm>
            <a:off x="1451580" y="804520"/>
            <a:ext cx="4176511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cap="all" dirty="0">
                <a:latin typeface="+mj-lt"/>
                <a:ea typeface="+mj-ea"/>
                <a:cs typeface="+mj-cs"/>
              </a:rPr>
              <a:t>Knowledge Graph Build </a:t>
            </a:r>
            <a:r>
              <a:rPr lang="en-US" sz="3200" cap="all" dirty="0" err="1">
                <a:latin typeface="+mj-lt"/>
                <a:ea typeface="+mj-ea"/>
                <a:cs typeface="+mj-cs"/>
              </a:rPr>
              <a:t>Pıpelıne</a:t>
            </a:r>
            <a:r>
              <a:rPr lang="en-US" sz="3200" cap="all" dirty="0">
                <a:latin typeface="+mj-lt"/>
                <a:ea typeface="+mj-ea"/>
                <a:cs typeface="+mj-cs"/>
              </a:rPr>
              <a:t> 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BF4A6AD-CFB6-4C41-A976-2BFCEE220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Chunking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FixedSizeSplitter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:  To capture the context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Overlap:  To prevent data and meaning loss during part transitions.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extracts nodes/relations per chunk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{“temperature”: 0} to prevent hallucinations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Resim 5">
            <a:extLst>
              <a:ext uri="{FF2B5EF4-FFF2-40B4-BE49-F238E27FC236}">
                <a16:creationId xmlns:a16="http://schemas.microsoft.com/office/drawing/2014/main" id="{FBE00337-ABF1-1944-B134-4AAE4A6424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9" y="1034816"/>
            <a:ext cx="4960442" cy="16245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Resim 6">
            <a:extLst>
              <a:ext uri="{FF2B5EF4-FFF2-40B4-BE49-F238E27FC236}">
                <a16:creationId xmlns:a16="http://schemas.microsoft.com/office/drawing/2014/main" id="{F6DEE57E-E14A-B945-A915-EC7ADB778A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360" y="2820538"/>
            <a:ext cx="6084808" cy="257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2297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1D0293-A79E-5849-B963-668D76E82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Knowledge </a:t>
            </a:r>
            <a:r>
              <a:rPr lang="tr-TR" dirty="0" err="1"/>
              <a:t>Graph</a:t>
            </a:r>
            <a:r>
              <a:rPr lang="tr-TR" dirty="0"/>
              <a:t> BUILD </a:t>
            </a:r>
            <a:r>
              <a:rPr lang="tr-TR" dirty="0" err="1"/>
              <a:t>Dıffıcultıes</a:t>
            </a:r>
            <a:r>
              <a:rPr lang="tr-TR" dirty="0"/>
              <a:t>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88CE333-89B5-0C41-8AA7-1335227AD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>
                <a:latin typeface="Times New Roman" panose="02020603050405020304" pitchFamily="18" charset="0"/>
                <a:cs typeface="Times New Roman" panose="02020603050405020304" pitchFamily="18" charset="0"/>
              </a:rPr>
              <a:t>Deep headings may be merged during ontology mapping</a:t>
            </a:r>
          </a:p>
          <a:p>
            <a:r>
              <a:rPr lang="tr-TR">
                <a:latin typeface="Times New Roman" panose="02020603050405020304" pitchFamily="18" charset="0"/>
                <a:cs typeface="Times New Roman" panose="02020603050405020304" pitchFamily="18" charset="0"/>
              </a:rPr>
              <a:t>Some subheadings are not fully captured as clean nodes</a:t>
            </a:r>
          </a:p>
          <a:p>
            <a:r>
              <a:rPr lang="tr-TR">
                <a:latin typeface="Times New Roman" panose="02020603050405020304" pitchFamily="18" charset="0"/>
                <a:cs typeface="Times New Roman" panose="02020603050405020304" pitchFamily="18" charset="0"/>
              </a:rPr>
              <a:t>FROM_CHUNK preserves sub-clause evidence</a:t>
            </a:r>
          </a:p>
          <a:p>
            <a:r>
              <a:rPr lang="tr-TR">
                <a:latin typeface="Times New Roman" panose="02020603050405020304" pitchFamily="18" charset="0"/>
                <a:cs typeface="Times New Roman" panose="02020603050405020304" pitchFamily="18" charset="0"/>
              </a:rPr>
              <a:t>Therefore, many correct answers are chunk-grounded, while KG provides structure</a:t>
            </a:r>
          </a:p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018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4AF2007-41C8-BE47-B999-CB4D55DBA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FA80473-F657-4743-A4E5-F6E9595C47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3D91EF2F-3DF6-CB4F-83BF-2F01C6A88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71" y="217715"/>
            <a:ext cx="6255658" cy="5107678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F9ADC82D-D4D5-C440-9833-2C3A452C3B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064" y="705432"/>
            <a:ext cx="5977164" cy="4132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8684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53F34C3-7CEC-0548-AD77-32B94BB2C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DYNAMIC UPDATE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C03E2E49-9074-3E46-88F5-7750DCEADA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MATCH (c)</a:t>
            </a:r>
          </a:p>
          <a:p>
            <a:r>
              <a:rPr lang="tr-TR" dirty="0"/>
              <a:t>WHERE </a:t>
            </a:r>
            <a:r>
              <a:rPr lang="tr-TR" dirty="0" err="1"/>
              <a:t>elementId</a:t>
            </a:r>
            <a:r>
              <a:rPr lang="tr-TR" dirty="0"/>
              <a:t>(c) = '4:89c60307-9934-4804-86fe-a90499bbcc38:39'</a:t>
            </a:r>
          </a:p>
          <a:p>
            <a:r>
              <a:rPr lang="tr-TR" dirty="0"/>
              <a:t>SET </a:t>
            </a:r>
            <a:r>
              <a:rPr lang="tr-TR" dirty="0" err="1"/>
              <a:t>c.metin</a:t>
            </a:r>
            <a:r>
              <a:rPr lang="tr-TR" dirty="0"/>
              <a:t> = </a:t>
            </a:r>
            <a:r>
              <a:rPr lang="tr-TR" dirty="0" err="1"/>
              <a:t>replace</a:t>
            </a:r>
            <a:r>
              <a:rPr lang="tr-TR" dirty="0"/>
              <a:t>(</a:t>
            </a:r>
            <a:r>
              <a:rPr lang="tr-TR" dirty="0" err="1"/>
              <a:t>c.metin</a:t>
            </a:r>
            <a:r>
              <a:rPr lang="tr-TR" dirty="0"/>
              <a:t>, 'resmi', 'özel'),  </a:t>
            </a:r>
          </a:p>
          <a:p>
            <a:r>
              <a:rPr lang="tr-TR" dirty="0"/>
              <a:t>    </a:t>
            </a:r>
            <a:r>
              <a:rPr lang="tr-TR" dirty="0" err="1"/>
              <a:t>c.embedding</a:t>
            </a:r>
            <a:r>
              <a:rPr lang="tr-TR" dirty="0"/>
              <a:t> = </a:t>
            </a:r>
            <a:r>
              <a:rPr lang="tr-TR" dirty="0" err="1"/>
              <a:t>null</a:t>
            </a:r>
            <a:r>
              <a:rPr lang="tr-TR" dirty="0"/>
              <a:t>  </a:t>
            </a:r>
          </a:p>
          <a:p>
            <a:r>
              <a:rPr lang="tr-TR" dirty="0"/>
              <a:t>RETURN </a:t>
            </a:r>
            <a:r>
              <a:rPr lang="tr-TR" dirty="0" err="1"/>
              <a:t>c.metin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0588028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5C3D674-3D59-4E93-80CA-0C0A9095E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84B8F8-FDC9-498B-9960-5D7260AFC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3896" y="1847088"/>
            <a:ext cx="417737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Başlık 1">
            <a:extLst>
              <a:ext uri="{FF2B5EF4-FFF2-40B4-BE49-F238E27FC236}">
                <a16:creationId xmlns:a16="http://schemas.microsoft.com/office/drawing/2014/main" id="{0DEF2582-1959-C747-B957-5A7EFAEBF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80" y="804520"/>
            <a:ext cx="4176511" cy="1049235"/>
          </a:xfrm>
        </p:spPr>
        <p:txBody>
          <a:bodyPr>
            <a:normAutofit/>
          </a:bodyPr>
          <a:lstStyle/>
          <a:p>
            <a:r>
              <a:rPr lang="tr-TR" dirty="0" err="1"/>
              <a:t>Retrıeval</a:t>
            </a:r>
            <a:endParaRPr lang="tr-TR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2A81E1-BCBE-426B-8C09-33274E694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0BB0FBB-3BED-EA4E-832F-3EA4049EC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81" y="2015732"/>
            <a:ext cx="4172212" cy="3450613"/>
          </a:xfrm>
        </p:spPr>
        <p:txBody>
          <a:bodyPr>
            <a:normAutofit/>
          </a:bodyPr>
          <a:lstStyle/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→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top-k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Chunk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Cypher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traversal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expands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relations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triples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tr-TR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9D1DDD4-5BB3-45BA-B9B3-06B62299A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4DAE64-2302-42EA-8239-F2F0775CA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Resim 9" descr="metin, ekran görüntüsü, yazı tipi içeren bir resim&#10;&#10;Açıklama otomatik olarak oluşturuldu">
            <a:extLst>
              <a:ext uri="{FF2B5EF4-FFF2-40B4-BE49-F238E27FC236}">
                <a16:creationId xmlns:a16="http://schemas.microsoft.com/office/drawing/2014/main" id="{0405B6EE-4D4B-CC4F-A362-1DE62E7683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9" y="2381107"/>
            <a:ext cx="4960443" cy="209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359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F58257A-41CE-FA41-8D80-9CF3962A9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tr-TR" dirty="0" err="1"/>
              <a:t>Cypher</a:t>
            </a:r>
            <a:r>
              <a:rPr lang="tr-TR" dirty="0"/>
              <a:t> </a:t>
            </a:r>
            <a:r>
              <a:rPr lang="tr-TR" dirty="0" err="1"/>
              <a:t>Traversal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B925E27-6689-0747-919C-235E696A8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62555" cy="3450613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chunk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selected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Chunk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search</a:t>
            </a:r>
            <a:endParaRPr lang="tr-T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(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chunk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)&lt;-[:FROM_CHUNK]-(n) →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extracted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from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chunk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provenance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link)</a:t>
            </a:r>
          </a:p>
          <a:p>
            <a:pPr>
              <a:lnSpc>
                <a:spcPct val="110000"/>
              </a:lnSpc>
            </a:pP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 (n)-[r]-&gt;(m) →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expand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connected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nodes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via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</a:t>
            </a:r>
            <a:r>
              <a:rPr lang="tr-TR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relations</a:t>
            </a:r>
            <a:endParaRPr lang="tr-T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</a:pPr>
            <a:endParaRPr lang="tr-TR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64BA6EE0-F0B6-D64F-9C3C-0DD8F4BFF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993" y="2978150"/>
            <a:ext cx="5003800" cy="90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8899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EE9C725-6EB2-1B4B-8654-98D1ABED7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r>
              <a:rPr lang="tr-TR" dirty="0" err="1"/>
              <a:t>Fact</a:t>
            </a:r>
            <a:r>
              <a:rPr lang="tr-TR" dirty="0"/>
              <a:t> </a:t>
            </a:r>
            <a:r>
              <a:rPr lang="tr-TR" dirty="0" err="1"/>
              <a:t>Formatting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5FAE391-C517-AC4C-B6BE-85DEE51A3A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4"/>
            <a:ext cx="4162555" cy="3450613"/>
          </a:xfrm>
        </p:spPr>
        <p:txBody>
          <a:bodyPr>
            <a:normAutofit fontScale="92500" lnSpcReduction="20000"/>
          </a:bodyPr>
          <a:lstStyle/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Produces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structured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instead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raw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hallucination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constraining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explicit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relations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Improves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traceability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relation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type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explains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info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included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  <a:p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DISTINCT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avoids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duplicated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</a:t>
            </a:r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join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facts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'\n') →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tr-T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tr-T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LLM </a:t>
            </a:r>
          </a:p>
          <a:p>
            <a:endParaRPr lang="tr-T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Resim 4" descr="metin, ekran görüntüsü, yazı tipi içeren bir resim&#10;&#10;Açıklama otomatik olarak oluşturuldu">
            <a:extLst>
              <a:ext uri="{FF2B5EF4-FFF2-40B4-BE49-F238E27FC236}">
                <a16:creationId xmlns:a16="http://schemas.microsoft.com/office/drawing/2014/main" id="{317632BC-9FC3-174F-9A99-B4E22D9E7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11" y="3251197"/>
            <a:ext cx="4960443" cy="97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79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41D79EB-9513-EB49-8063-541B83A1E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Q</a:t>
            </a:r>
            <a:r>
              <a:rPr lang="tr-TR" dirty="0"/>
              <a:t>/A </a:t>
            </a:r>
            <a:r>
              <a:rPr lang="tr-TR" dirty="0" err="1"/>
              <a:t>Prompt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99C7338-4E8A-3042-976B-282DF1B69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890983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95FC7DD-7C7F-D041-B81A-6790A35D3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Valıdatıon</a:t>
            </a:r>
            <a:endParaRPr lang="tr-TR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E6AE8E1-B55C-544D-B7A3-A836925B77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6359530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">
  <a:themeElements>
    <a:clrScheme name="Galeri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i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i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{88D6918D-5EC2-0A44-90DC-7306979B59CA}tf10001119</Template>
  <TotalTime>1804</TotalTime>
  <Words>562</Words>
  <Application>Microsoft Macintosh PowerPoint</Application>
  <PresentationFormat>Geniş ekran</PresentationFormat>
  <Paragraphs>84</Paragraphs>
  <Slides>16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16</vt:i4>
      </vt:variant>
    </vt:vector>
  </HeadingPairs>
  <TitlesOfParts>
    <vt:vector size="20" baseType="lpstr">
      <vt:lpstr>Arial</vt:lpstr>
      <vt:lpstr>Gill Sans MT</vt:lpstr>
      <vt:lpstr>Times New Roman</vt:lpstr>
      <vt:lpstr>Galeri</vt:lpstr>
      <vt:lpstr>ENS-492 PresentatIon</vt:lpstr>
      <vt:lpstr>Goal </vt:lpstr>
      <vt:lpstr>pROBLEM</vt:lpstr>
      <vt:lpstr>Goal </vt:lpstr>
      <vt:lpstr>PowerPoint Sunusu</vt:lpstr>
      <vt:lpstr>PowerPoint Sunusu</vt:lpstr>
      <vt:lpstr>PowerPoint Sunusu</vt:lpstr>
      <vt:lpstr>PowerPoint Sunusu</vt:lpstr>
      <vt:lpstr>Knowledge Graph BUILD Dıffıcultıes </vt:lpstr>
      <vt:lpstr>PowerPoint Sunusu</vt:lpstr>
      <vt:lpstr>DYNAMIC UPDATE</vt:lpstr>
      <vt:lpstr>Retrıeval</vt:lpstr>
      <vt:lpstr>Cypher Traversal</vt:lpstr>
      <vt:lpstr>Fact Formatting</vt:lpstr>
      <vt:lpstr>Q/A Prompt</vt:lpstr>
      <vt:lpstr>Valıdatıon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ENS-492 PresentatIon</dc:title>
  <dc:creator>Ahmed Berka Ayhün (Student)</dc:creator>
  <cp:lastModifiedBy>Ahmed Berka Ayhün (Student)</cp:lastModifiedBy>
  <cp:revision>8</cp:revision>
  <cp:lastPrinted>2026-01-05T12:47:20Z</cp:lastPrinted>
  <dcterms:created xsi:type="dcterms:W3CDTF">2026-01-04T18:24:49Z</dcterms:created>
  <dcterms:modified xsi:type="dcterms:W3CDTF">2026-01-06T00:33:05Z</dcterms:modified>
</cp:coreProperties>
</file>